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1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SMART INDIA HACKATHON 2026 • IDEA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B2545"/>
                </a:solidFill>
              </a:defRPr>
            </a:pPr>
            <a:r>
              <a:t>MAUSAM 2.0: Next-Gen Personalized Weather System</a:t>
            </a:r>
          </a:p>
          <a:p>
            <a:pPr>
              <a:defRPr sz="1250">
                <a:solidFill>
                  <a:srgbClr val="1D4ED8"/>
                </a:solidFill>
              </a:defRPr>
            </a:pPr>
            <a:r>
              <a:t>Adaptive, Multi-Persona Homepage &amp; Proactive Meteorological Intelligence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3749039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41448"/>
            <a:ext cx="347471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4ED8"/>
                </a:solidFill>
              </a:defRPr>
            </a:pPr>
            <a:r>
              <a:t>PROBLEM STATEMENT ID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26076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331720"/>
            <a:ext cx="3749039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441448"/>
            <a:ext cx="347471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6534"/>
                </a:solidFill>
              </a:defRPr>
            </a:pPr>
            <a:r>
              <a:t>MINISTRY / DEPARTMENT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Ministry of Earth Sciences (MoES)</a:t>
            </a:r>
            <a:br/>
            <a:r>
              <a:t>India Meteorological Department (IMD)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3749039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347471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THEME &amp; PS CATEGORY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Theme: Smart Automation</a:t>
            </a:r>
            <a:br/>
            <a:r>
              <a:t>Category: Software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114800"/>
            <a:ext cx="3749039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224528"/>
            <a:ext cx="347471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B2545"/>
                </a:solidFill>
              </a:defRPr>
            </a:pPr>
            <a:r>
              <a:t>PROBLEM STATEMENT TITLE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Development of personalized homepage for 'Mausam' mobile application</a:t>
            </a:r>
          </a:p>
        </p:txBody>
      </p:sp>
      <p:pic>
        <p:nvPicPr>
          <p:cNvPr id="19" name="Picture 18" descr="app_mobil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097280"/>
            <a:ext cx="2651760" cy="503834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1520" y="5897880"/>
            <a:ext cx="768096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916168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Team ID: [Your Team ID]   |   Team Name: [Your Registered Team Name]   |   Team Leader: [Leader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2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Problem Statement &amp; Proposed Solution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Bridging the gap between raw meteorological data and actionable citizen lifestyle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8580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132588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C2626"/>
                </a:solidFill>
              </a:defRPr>
            </a:pPr>
            <a:r>
              <a:t>❌ Current Problem in Conventional Weather Apps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Generic Weather Experience: </a:t>
            </a:r>
            <a:r>
              <a:rPr b="0">
                <a:solidFill>
                  <a:srgbClr val="334155"/>
                </a:solidFill>
              </a:rPr>
              <a:t>Farmers, athletes, travelers, parents, commuters, and asthma patients receive the exact same static temperature card.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High Cognitive Load: </a:t>
            </a:r>
            <a:r>
              <a:rPr b="0">
                <a:solidFill>
                  <a:srgbClr val="334155"/>
                </a:solidFill>
              </a:rPr>
              <a:t>Users receive raw atmospheric parameters (68% RH, 1008 hPa, 38 dBZ) without knowing what they mean for daily activities.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Lack of Actionable Intelligence: </a:t>
            </a:r>
            <a:r>
              <a:rPr b="0">
                <a:solidFill>
                  <a:srgbClr val="334155"/>
                </a:solidFill>
              </a:rPr>
              <a:t>Weather data does not translate into decisions: best workout time, school commute safety, packing checklists, or spray windows.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Lack of Adaptive Daily Routine: </a:t>
            </a:r>
            <a:r>
              <a:rPr b="0">
                <a:solidFill>
                  <a:srgbClr val="334155"/>
                </a:solidFill>
              </a:rPr>
              <a:t>The homepage remains rigid instead of adapting dynamically as a user's activities shift throughout the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21208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ulb_inno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325880"/>
            <a:ext cx="685800" cy="685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132588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6534"/>
                </a:solidFill>
              </a:defRPr>
            </a:pPr>
            <a:r>
              <a:t>🎯 Proposed Solution: Mausam 2.0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Mausam 2.0 is an adaptive, persona-driven weather intelligence platform that transforms raw meteorological feeds into contextual, actionable guidance.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8 Tailored Persona Dashboards: </a:t>
            </a:r>
            <a:r>
              <a:rPr b="0">
                <a:solidFill>
                  <a:srgbClr val="334155"/>
                </a:solidFill>
              </a:rPr>
              <a:t>Dedicated views for Health, Fitness, Beach, Travel, Family, Agriculture, Commute, and Events.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Automated Intelligence Models: </a:t>
            </a:r>
            <a:r>
              <a:rPr b="0">
                <a:solidFill>
                  <a:srgbClr val="334155"/>
                </a:solidFill>
              </a:rPr>
              <a:t>Calculates WBGT heat stress, running score, tidal harmonics, topsoil moisture %, and AI travel packing lists.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Universal Pan-India Precision: </a:t>
            </a:r>
            <a:r>
              <a:rPr b="0">
                <a:solidFill>
                  <a:srgbClr val="334155"/>
                </a:solidFill>
              </a:rPr>
              <a:t>Directory covering all 28 States &amp; 8 UTs + GPS pinpoint reverse geocoding.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Multilingual Voice Briefing: </a:t>
            </a:r>
            <a:r>
              <a:rPr b="0">
                <a:solidFill>
                  <a:srgbClr val="334155"/>
                </a:solidFill>
              </a:rPr>
              <a:t>Natural Text-to-Speech (TTS) briefings in English and हिन्दी (Hindi).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49240"/>
            <a:ext cx="104543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END-TO-END INTELLIGENCE DATA FLOW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Live Meteorological Feeds  ➔  Intelligence &amp; Scoring Engine  ➔  Persona-Specific Analysis  ➔  Actionable Recommendations  ➔  Personalized Homepage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3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8 Persona Intelligence Modules + Smart Auto-Blend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Contextual dashboards tailored to specific user activities, vulnerability factors, and routines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251460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307592"/>
            <a:ext cx="22951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6534"/>
                </a:solidFill>
              </a:defRPr>
            </a:pPr>
            <a:r>
              <a:t>🩺 Health-Conscious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CPCB AQI breakdown (PM2.5, PM10, NO2, O3), Pollen risk, UV sunburn timer, and humidity/asthma trigger advisories.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23444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234440"/>
            <a:ext cx="2514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307592"/>
            <a:ext cx="22951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t>🏃 Outdoor Fitness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'Best Running Hours' (0-100 score), WBGT heat stress index, sunrise/sunset golden hours, and sweat-rate hydration estimator.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23444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34440"/>
            <a:ext cx="2514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307592"/>
            <a:ext cx="22951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891B2"/>
                </a:solidFill>
              </a:defRPr>
            </a:pPr>
            <a:r>
              <a:t>🏄 Beachgoers &amp; Surfers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Coastal sea condition status, 24-hour sinusoidal tide harmonic curve, swell wave height (m), SST, and UV water reflection.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23444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1234440"/>
            <a:ext cx="25146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307592"/>
            <a:ext cx="22951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E22CE"/>
                </a:solidFill>
              </a:defRPr>
            </a:pPr>
            <a:r>
              <a:t>✈️ Travelers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Saved multi-city comparator, airport &amp; rail fog delay risks, climate contrast alerts, and AI-powered smart packing checklist.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2514600" cy="3657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547872"/>
            <a:ext cx="22951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B2777"/>
                </a:solidFill>
              </a:defRPr>
            </a:pPr>
            <a:r>
              <a:t>👨‍👩‍👧 Parents &amp; Families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School commute weather windows (7-9 AM drop &amp; 2-4 PM pickup), rain radar alerts, and kids playground comfort index.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347472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6432" y="3474720"/>
            <a:ext cx="2514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547872"/>
            <a:ext cx="22951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🌾 Agriculture / GKMS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Topsoil (0-7cm) &amp; root zone moisture %, 7-day crop water balance, foliar spraying suitability window, and GKMS bulletins.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347472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3474720"/>
            <a:ext cx="25146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547872"/>
            <a:ext cx="22951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A580C"/>
                </a:solidFill>
              </a:defRPr>
            </a:pPr>
            <a:r>
              <a:t>🚗 Daily Commuters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Real-time fog/smog visibility distance meter (meters), urban waterlogging risk index, and rush-hour driving traction ratings.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6256" y="347472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06256" y="3474720"/>
            <a:ext cx="2514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15984" y="3547872"/>
            <a:ext cx="22951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F46E5"/>
                </a:solidFill>
              </a:defRPr>
            </a:pPr>
            <a:r>
              <a:t>🎪 Event Planners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14-day synoptic rain probability curve, Outdoor Thermal Comfort Index, and temporary marquee/tent wind gust load ratings.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715000"/>
            <a:ext cx="10728655" cy="530352"/>
          </a:xfrm>
          <a:prstGeom prst="round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742432"/>
            <a:ext cx="104543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7E22CE"/>
                </a:solidFill>
              </a:defRPr>
            </a:pPr>
            <a:r>
              <a:t>⚡ SMART AUTO-BLEND LIFECYCLE ENGINE: </a:t>
            </a:r>
            <a:r>
              <a:rPr b="0">
                <a:solidFill>
                  <a:srgbClr val="0F172A"/>
                </a:solidFill>
              </a:rPr>
              <a:t>Dynamically transitions the homepage across the citizen's day: Morning Fitness (06-08:30) ➔ Transit/Commute (08:30-10:30) ➔ School Pickup (14-16:00) ➔ Evening Leisure (18-21:30).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4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Technical Architecture &amp; System Methodology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Modular, scalable, zero-dependency full-stack meteorological pipeline implemented in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338328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344168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D4ED8"/>
                </a:solidFill>
              </a:defRPr>
            </a:pPr>
            <a:r>
              <a:t>1. Data Ingestion &amp; API Gateway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server.py Backend: </a:t>
            </a:r>
            <a:r>
              <a:rPr b="0">
                <a:solidFill>
                  <a:srgbClr val="334155"/>
                </a:solidFill>
              </a:rPr>
              <a:t>Python 3 standard library async HTTP proxy server for weather, air quality, marine, and geocoding feeds.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weatherService.js: </a:t>
            </a:r>
            <a:r>
              <a:rPr b="0">
                <a:solidFill>
                  <a:srgbClr val="334155"/>
                </a:solidFill>
              </a:rPr>
              <a:t>Multi-stream aggregator fetching synoptic forecasts, CPCB AQI (PM2.5, PM10, NO2, SO2, O3), INCOIS marine waves &amp; agromet soil moisture.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Pan-India Geocoding: </a:t>
            </a:r>
            <a:r>
              <a:rPr b="0">
                <a:solidFill>
                  <a:srgbClr val="334155"/>
                </a:solidFill>
              </a:rPr>
              <a:t>Built-in directory covering all 28 States &amp; 8 UTs + OpenStreetMap reverse geocoding for GPS coordinate resolution.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Performance Caching: </a:t>
            </a:r>
            <a:r>
              <a:rPr b="0">
                <a:solidFill>
                  <a:srgbClr val="334155"/>
                </a:solidFill>
              </a:rPr>
              <a:t>5-minute memory caching eliminating redundant external API queries.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3383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344168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2. Persona Intelligence Engine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personaEngine.js: </a:t>
            </a:r>
            <a:r>
              <a:rPr b="0">
                <a:solidFill>
                  <a:srgbClr val="334155"/>
                </a:solidFill>
              </a:rPr>
              <a:t>Core dispatch module containing mathematical algorithms and widget renderers for all 8 personas.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WBGT &amp; Thermal Models: </a:t>
            </a:r>
            <a:r>
              <a:rPr b="0">
                <a:solidFill>
                  <a:srgbClr val="334155"/>
                </a:solidFill>
              </a:rPr>
              <a:t>Computes heat stress and dynamic sweat-rate hydration loss (ml/hr) for fitness routines.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Tidal Harmonics Model: </a:t>
            </a:r>
            <a:r>
              <a:rPr b="0">
                <a:solidFill>
                  <a:srgbClr val="334155"/>
                </a:solidFill>
              </a:rPr>
              <a:t>Generates 24h sinusoidal tidal curves (1.6 + 1.2 sin(ωt)) and peak high/low tide times.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packingAdvisor.js: </a:t>
            </a:r>
            <a:r>
              <a:rPr b="0">
                <a:solidFill>
                  <a:srgbClr val="334155"/>
                </a:solidFill>
              </a:rPr>
              <a:t>Rule-based AI travel matrix inspecting destination temperature deltas, rainfall &amp; UV to generate gear checklists.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338328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344168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t>3. Client Experience &amp; Voice TTS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Universal PWA Client: </a:t>
            </a:r>
            <a:r>
              <a:rPr b="0">
                <a:solidFill>
                  <a:srgbClr val="334155"/>
                </a:solidFill>
              </a:rPr>
              <a:t>Responsive HTML5, Tailwind CSS, and Glassmorphism styling with 1-click Mobile Shell simulator in index.html.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charts.js Visualization: </a:t>
            </a:r>
            <a:r>
              <a:rPr b="0">
                <a:solidFill>
                  <a:srgbClr val="334155"/>
                </a:solidFill>
              </a:rPr>
              <a:t>Hardware-accelerated Chart.js canvases for dual-axis time series, AQI bars, and crop moisture curves.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voiceBriefing.js: </a:t>
            </a:r>
            <a:r>
              <a:rPr b="0">
                <a:solidFill>
                  <a:srgbClr val="334155"/>
                </a:solidFill>
              </a:rPr>
              <a:t>W3C Web Speech API engine synthesizing natural voice weather briefings in English and हिन्दी (Hindi).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app.js Orchestrator: </a:t>
            </a:r>
            <a:r>
              <a:rPr b="0">
                <a:solidFill>
                  <a:srgbClr val="334155"/>
                </a:solidFill>
              </a:rPr>
              <a:t>Master state management, local storage caching, search debounce, and GPS location handler.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5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Innovation, Feasibility &amp; Expected Impact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Delivering high-value public safety, agricultural efficiency, and citizen engagement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3383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ulb_inno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98448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1344168"/>
            <a:ext cx="2560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💡 Key Innovations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Smart Auto-Blend: </a:t>
            </a:r>
            <a:r>
              <a:rPr b="0">
                <a:solidFill>
                  <a:srgbClr val="334155"/>
                </a:solidFill>
              </a:rPr>
              <a:t>The user experience adapts to different daily activities and times of day instead of remaining static.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Persona Intelligence: </a:t>
            </a:r>
            <a:r>
              <a:rPr b="0">
                <a:solidFill>
                  <a:srgbClr val="334155"/>
                </a:solidFill>
              </a:rPr>
              <a:t>The same raw weather data is transformed into distinct, specialized insights per persona.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AI Smart Packing: </a:t>
            </a:r>
            <a:r>
              <a:rPr b="0">
                <a:solidFill>
                  <a:srgbClr val="334155"/>
                </a:solidFill>
              </a:rPr>
              <a:t>Destination forecast parameters dynamically generate tailored travel gear checklists.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Actionable Guidance: </a:t>
            </a:r>
            <a:r>
              <a:rPr b="0">
                <a:solidFill>
                  <a:srgbClr val="334155"/>
                </a:solidFill>
              </a:rPr>
              <a:t>Replaces raw numbers with concrete recommendations (spray window, N95 mask).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Multilingual Voice: </a:t>
            </a:r>
            <a:r>
              <a:rPr b="0">
                <a:solidFill>
                  <a:srgbClr val="334155"/>
                </a:solidFill>
              </a:rPr>
              <a:t>Built-in Text-to-Speech in English &amp; Hindi improves accessibility for all citizens.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234440"/>
            <a:ext cx="338328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44168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</a:defRPr>
            </a:pPr>
            <a:r>
              <a:t>⚙️ Technical Feasibility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Zero Dependency Backend: </a:t>
            </a:r>
            <a:r>
              <a:rPr b="0">
                <a:solidFill>
                  <a:srgbClr val="334155"/>
                </a:solidFill>
              </a:rPr>
              <a:t>Built with Python 3 standard library; runs cleanly on any standard VM or edge server.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Modular Architecture: </a:t>
            </a:r>
            <a:r>
              <a:rPr b="0">
                <a:solidFill>
                  <a:srgbClr val="334155"/>
                </a:solidFill>
              </a:rPr>
              <a:t>Clean separation of data service, persona engine, charts, and voice briefing layers.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High-Speed Caching: </a:t>
            </a:r>
            <a:r>
              <a:rPr b="0">
                <a:solidFill>
                  <a:srgbClr val="334155"/>
                </a:solidFill>
              </a:rPr>
              <a:t>5-minute memory caching minimizes outbound API queries and avoids rate limits.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Offline-First Resilient: </a:t>
            </a:r>
            <a:r>
              <a:rPr b="0">
                <a:solidFill>
                  <a:srgbClr val="334155"/>
                </a:solidFill>
              </a:rPr>
              <a:t>Local storage caching maintains full functionality during connectivity drops.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Seamless Deployment: </a:t>
            </a:r>
            <a:r>
              <a:rPr b="0">
                <a:solidFill>
                  <a:srgbClr val="334155"/>
                </a:solidFill>
              </a:rPr>
              <a:t>Lightweight static + API design compatible with PWA, Android &amp; Webview.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234440"/>
            <a:ext cx="338328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344168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📈 Expected Impact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Public Health: </a:t>
            </a:r>
            <a:r>
              <a:rPr b="0">
                <a:solidFill>
                  <a:srgbClr val="334155"/>
                </a:solidFill>
              </a:rPr>
              <a:t>Provides actionable warnings correlating humidity with PM2.5 to mitigate asthma triggers &amp; heatstroke.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Agricultural Savings: </a:t>
            </a:r>
            <a:r>
              <a:rPr b="0">
                <a:solidFill>
                  <a:srgbClr val="334155"/>
                </a:solidFill>
              </a:rPr>
              <a:t>Helps farmers make weather-informed irrigation and foliar pesticide spraying decisions.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Travel &amp; Transit Safety: </a:t>
            </a:r>
            <a:r>
              <a:rPr b="0">
                <a:solidFill>
                  <a:srgbClr val="334155"/>
                </a:solidFill>
              </a:rPr>
              <a:t>Reduces travel packing uncertainty and provides road visibility &amp; waterlogging alerts.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Citizen Empowerment: </a:t>
            </a:r>
            <a:r>
              <a:rPr b="0">
                <a:solidFill>
                  <a:srgbClr val="334155"/>
                </a:solidFill>
              </a:rPr>
              <a:t>Transforms complex meteorological datasets into easy-to-understand recommendations for all citizens.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Universal Inclusion: </a:t>
            </a:r>
            <a:r>
              <a:rPr b="0">
                <a:solidFill>
                  <a:srgbClr val="334155"/>
                </a:solidFill>
              </a:rPr>
              <a:t>Voice audio briefings ensure elderly and rural users receive weather intelligence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6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Roadmap, Scalability &amp; Future Scope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Phased deployment strategy for national rollout across 1.4 billion citizens (Proposed Future Scope)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338328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344168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PHASE 1 — Platform Expansion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Timeline: Immediate / Short Term (0 - 3 Months)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Deploy Mausam 2.0 PWA across Android, iOS, and Web platforms.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Expand weather data integrations with IMD NOWCAST push notifications.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Enhance recommendation quality and user preference customization.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Expand multilingual voice briefing to 12 regional Indian languages (Tamil, Telugu, Bengali, Marathi, etc.).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Strengthen offline mobile caching and PWA installability.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3383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344168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PHASE 2 — Advanced Alerts &amp; Citizen Integration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Timeline: Medium Term (3 - 6 Months)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Integrate with NDMA Common Alerting Protocol (CAP) for severe weather and disaster alerts.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Enable crowdsourced hyper-local weather &amp; urban waterlogging reporting (Citizen Science).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Integrate with IRCTC &amp; Flight booking portals for automated travel packing alerts.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Provide district-level push notifications for extreme weather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338328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344168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PHASE 3 — Hyper-Local &amp; Edge Intelligence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Timeline: Long Term (6 - 12 Months)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Implement on-device Edge ML for offline micro-climate forecasting at 1km grid resolution.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Integrate with Gramin Krishi Mausam Sewa (GKMS) village-level IoT weather sensors.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Provide Smart-Home and Wearable integration (WearOS / Apple Watch morning briefings).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Develop AI-driven personalized micro-climate forecasting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