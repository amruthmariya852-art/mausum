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40AF"/>
                </a:solidFill>
              </a:defRPr>
            </a:pPr>
            <a:r>
              <a:t>SMART INDIA HACKATHON 2026</a:t>
            </a:r>
          </a:p>
          <a:p>
            <a:pPr algn="ctr">
              <a:defRPr sz="2200" b="1">
                <a:solidFill>
                  <a:srgbClr val="0F172A"/>
                </a:solidFill>
              </a:defRPr>
            </a:pPr>
            <a:r>
              <a:t>TITLE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685800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rPr dirty="0"/>
              <a:t>• Problem Statement ID – </a:t>
            </a:r>
            <a:r>
              <a:rPr b="1" dirty="0">
                <a:solidFill>
                  <a:srgbClr val="0F172A"/>
                </a:solidFill>
              </a:rPr>
              <a:t>26076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rPr dirty="0"/>
              <a:t>• Problem Statement Title- </a:t>
            </a:r>
            <a:r>
              <a:rPr b="0" dirty="0">
                <a:solidFill>
                  <a:srgbClr val="0F172A"/>
                </a:solidFill>
              </a:rPr>
              <a:t>Development of personalized homepage for 'Mausam' mobile application.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rPr dirty="0"/>
              <a:t>• Theme- </a:t>
            </a:r>
            <a:r>
              <a:rPr b="1" dirty="0">
                <a:solidFill>
                  <a:srgbClr val="0F172A"/>
                </a:solidFill>
              </a:rPr>
              <a:t>Smart Automation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rPr dirty="0"/>
              <a:t>• PS Category- </a:t>
            </a:r>
            <a:r>
              <a:rPr b="1" dirty="0">
                <a:solidFill>
                  <a:srgbClr val="0F172A"/>
                </a:solidFill>
              </a:rPr>
              <a:t>Software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rPr dirty="0"/>
              <a:t>• Team ID- </a:t>
            </a:r>
            <a:endParaRPr b="0" dirty="0">
              <a:solidFill>
                <a:srgbClr val="0F172A"/>
              </a:solidFill>
            </a:endParaRP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rPr dirty="0"/>
              <a:t>• Team Name  : </a:t>
            </a:r>
            <a:r>
              <a:rPr lang="en-US" dirty="0"/>
              <a:t> </a:t>
            </a:r>
            <a:r>
              <a:rPr lang="en-IN" sz="1400" dirty="0">
                <a:solidFill>
                  <a:srgbClr val="0F172A"/>
                </a:solidFill>
              </a:rPr>
              <a:t>Mind Crafters</a:t>
            </a:r>
            <a:endParaRPr b="0" dirty="0">
              <a:solidFill>
                <a:srgbClr val="0F172A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0F7EB6-E05B-7C01-F62A-2A1B4ECD9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0226" y="274320"/>
            <a:ext cx="2034862" cy="959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37DB8C-E2D5-C768-E341-9DDCCCEF8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332" y="1965316"/>
            <a:ext cx="3975632" cy="37547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64592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4669" y="384048"/>
            <a:ext cx="99097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rPr lang="en-IN" sz="1100" dirty="0">
                <a:solidFill>
                  <a:srgbClr val="0F172A"/>
                </a:solidFill>
              </a:rPr>
              <a:t>Mind Crafters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286000" y="320040"/>
            <a:ext cx="7619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MAUSAM 2.0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FFFFFF"/>
                </a:solidFill>
              </a:defRPr>
            </a:pPr>
            <a:r>
              <a:t>@SIH Idea submission</a:t>
            </a:r>
          </a:p>
          <a:p>
            <a:pPr algn="r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E40AF"/>
                </a:solidFill>
              </a:defRPr>
            </a:pPr>
            <a:r>
              <a:t>Detailed Explanation of Proposed Solution: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An adaptive, multi-persona mobile web platform for personalized weather intelligence and proactive lifestyle recommendations.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Users access tailored meteorological insights through the Mausam 2.0 PWA interface.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</a:defRPr>
            </a:pPr>
            <a:r>
              <a:t>Smart automated intelligence and scoring models compute and classify: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 Health &amp; AQI (Asthma Triggers, UV Sunburn)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 Outdoor Fitness (Best Running Hours, Heat Stress)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 Beach &amp; Surfing (Tide Harmonics, Swell Height)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 Travel &amp; Commute (AI Packing, Road Visibility)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•  Agriculture (Topsoil Moisture %, Spray Windows)</a:t>
            </a:r>
          </a:p>
          <a:p>
            <a:br/>
            <a:r>
              <a:t>"Transforming static raw weather data into an adaptive, personalized, and actionable daily intelligence experience."</a:t>
            </a:r>
            <a:br/>
            <a:endParaRPr/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Data is aggregated via a lightweight Python 3 backend gateway and rendered with hardware-accelerated charts and bilingual voice synthesis.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Generates real-time persona cards, dynamic workout scores, and automated travel packing checklists.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1005840"/>
            <a:ext cx="4846320" cy="2560320"/>
          </a:xfrm>
          <a:prstGeom prst="rect">
            <a:avLst/>
          </a:prstGeom>
          <a:solidFill>
            <a:srgbClr val="DBEAFE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9440" y="1051560"/>
            <a:ext cx="4663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</a:defRPr>
            </a:pPr>
            <a:r>
              <a:t>How It Addresses the Problem?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Reduces cognitive overload from raw meteorological indices.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Delivers lifestyle-specific insights for 8 distinct citizen personas.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Automatically identifies health hazards (asthma, heatstroke, UV risks).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Provides proactive commute, school transit, and travel packing alerts.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Enables farmers to make weather-informed spraying and irrigation decisions.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Maintains seamless offline access with local caching during network drops.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3703320"/>
            <a:ext cx="4846320" cy="2651760"/>
          </a:xfrm>
          <a:prstGeom prst="rect">
            <a:avLst/>
          </a:prstGeom>
          <a:solidFill>
            <a:srgbClr val="DBEAFE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49440" y="3749039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</a:defRPr>
            </a:pPr>
            <a:r>
              <a:t>Innovation &amp; Uniqueness of the Solution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Smart Auto-Blend lifecycle engine dynamically shifts homepage across the day.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Heuristic mathematical models for running scores, tidal curves, and soil balance.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AI Smart Packing matrix evaluates destination weather deltas and UV.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Pan-India 1-click directory explorer covering all 28 States &amp; 8 UTs.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Multilingual Web Speech Text-to-Speech voice bulletins in English and Hindi.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Zero external database dependency ensures low latency and ultra-fast loading.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F8BDF53-D57C-42EE-A460-95488F7F1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0226" y="644"/>
            <a:ext cx="2034862" cy="9594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30382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64592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4671" y="384048"/>
            <a:ext cx="99097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rPr lang="en-IN" sz="1100" dirty="0">
                <a:solidFill>
                  <a:srgbClr val="0F172A"/>
                </a:solidFill>
              </a:rPr>
              <a:t>Mind Crafters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286000" y="320040"/>
            <a:ext cx="7619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TECHNICAL APPROACH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FFFFFF"/>
                </a:solidFill>
              </a:defRPr>
            </a:pPr>
            <a:r>
              <a:t>@SIH Idea submission</a:t>
            </a:r>
          </a:p>
          <a:p>
            <a:pPr algn="r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40AF"/>
                </a:solidFill>
              </a:defRPr>
            </a:pPr>
            <a:r>
              <a:t>Tech Stacks Used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</a:defRPr>
            </a:pPr>
            <a:r>
              <a:t>Data Ingestion &amp; Backend Gateway: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</a:defRPr>
            </a:pPr>
            <a:r>
              <a:t>• Python 3 Standard Library (http.server, urllib, json)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</a:defRPr>
            </a:pPr>
            <a:r>
              <a:t>• Open-Meteo &amp; IMD Synoptic Data APIs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</a:defRPr>
            </a:pPr>
            <a:r>
              <a:t>• CPCB National Air Quality Index (PM2.5, PM10, NO2, O3)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• INCOIS Marine Swell &amp; Agromet Soil Moisture (0-7cm)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</a:defRPr>
            </a:pPr>
            <a:r>
              <a:t>Frontend &amp; User Interface: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</a:defRPr>
            </a:pPr>
            <a:r>
              <a:t>• HTML5, CSS3, Modern Tailwind CSS Framework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</a:defRPr>
            </a:pPr>
            <a:r>
              <a:t>• Glassmorphism Styling with 1-Click Mobile Shell Simulator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• Progressive Web App (PWA) Offline-First Architecture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</a:defRPr>
            </a:pPr>
            <a:r>
              <a:t>Intelligence, Visualization &amp; Voice: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</a:defRPr>
            </a:pPr>
            <a:r>
              <a:t>• personaEngine.js Heuristic Mathematical Scoring Models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</a:defRPr>
            </a:pPr>
            <a:r>
              <a:t>• Chart.js (Dual-axis time series, AQI bars, moisture curves)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</a:defRPr>
            </a:pPr>
            <a:r>
              <a:t>• packingAdvisor.js (AI Weather-Aware Gear Matrix)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• W3C Web Speech API (Multilingual TTS in English &amp; हिन्दी)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05840"/>
            <a:ext cx="5486400" cy="5303520"/>
          </a:xfrm>
          <a:prstGeom prst="rect">
            <a:avLst/>
          </a:prstGeom>
          <a:solidFill>
            <a:srgbClr val="DBEAFE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051560"/>
            <a:ext cx="53035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E40AF"/>
                </a:solidFill>
              </a:defRPr>
            </a:pPr>
            <a:r>
              <a:t>App Workflow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[1]  User Location / Persona Select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      GPS Reverse-Geocode or 36 States/UTs Directory</a:t>
            </a:r>
          </a:p>
          <a:p>
            <a:pPr>
              <a:defRPr sz="850" b="1">
                <a:solidFill>
                  <a:srgbClr val="1E40AF"/>
                </a:solidFill>
              </a:defRPr>
            </a:pPr>
            <a:r>
              <a:t>           ↓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[2]  Python 3 Backend Gateway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      Fetches &amp; aggregates synoptic, AQI &amp; marine streams</a:t>
            </a:r>
          </a:p>
          <a:p>
            <a:pPr>
              <a:defRPr sz="850" b="1">
                <a:solidFill>
                  <a:srgbClr val="1E40AF"/>
                </a:solidFill>
              </a:defRPr>
            </a:pPr>
            <a:r>
              <a:t>           ↓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[3]  5-Min Cache &amp; Proxy Layer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      CORS handling, proxy deduplication &amp; rate-limit safety</a:t>
            </a:r>
          </a:p>
          <a:p>
            <a:pPr>
              <a:defRPr sz="850" b="1">
                <a:solidFill>
                  <a:srgbClr val="1E40AF"/>
                </a:solidFill>
              </a:defRPr>
            </a:pPr>
            <a:r>
              <a:t>           ↓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[4]  Persona Intelligence Engine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      Computes WBGT, Running Suitability, Tide &amp; Soil index</a:t>
            </a:r>
          </a:p>
          <a:p>
            <a:pPr>
              <a:defRPr sz="850" b="1">
                <a:solidFill>
                  <a:srgbClr val="1E40AF"/>
                </a:solidFill>
              </a:defRPr>
            </a:pPr>
            <a:r>
              <a:t>           ↓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[5]  Smart Auto-Blend Lifecycle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      Shifts layout: Fitness ➔ Commute ➔ School ➔ Leisure</a:t>
            </a:r>
          </a:p>
          <a:p>
            <a:pPr>
              <a:defRPr sz="850" b="1">
                <a:solidFill>
                  <a:srgbClr val="1E40AF"/>
                </a:solidFill>
              </a:defRPr>
            </a:pPr>
            <a:r>
              <a:t>           ↓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[6]  Visualization &amp; Voice Engine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      Renders Chart.js canvases &amp; English/Hindi TTS bulletins</a:t>
            </a:r>
          </a:p>
          <a:p>
            <a:pPr>
              <a:defRPr sz="850" b="1">
                <a:solidFill>
                  <a:srgbClr val="1E40AF"/>
                </a:solidFill>
              </a:defRPr>
            </a:pPr>
            <a:r>
              <a:t>           ↓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[7]  Personalized Dashboard UI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      Displays 8 persona widgets, AI packing list &amp; alerts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935286C-E04D-64C9-1E45-C3396EAEE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0240" y="55021"/>
            <a:ext cx="1798320" cy="8479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64592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4671" y="384048"/>
            <a:ext cx="99097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rPr lang="en-IN" sz="1100" dirty="0">
                <a:solidFill>
                  <a:srgbClr val="0F172A"/>
                </a:solidFill>
              </a:rPr>
              <a:t>Mind Crafters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286000" y="320040"/>
            <a:ext cx="7619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FEASIBILITY AND VIABILITY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FFFFFF"/>
                </a:solidFill>
              </a:defRPr>
            </a:pPr>
            <a:r>
              <a:t>@SIH Idea submission</a:t>
            </a:r>
          </a:p>
          <a:p>
            <a:pPr algn="r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E40AF"/>
                </a:solidFill>
              </a:defRPr>
            </a:pPr>
            <a:r>
              <a:t>Feasibility of Idea: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Technical Feasibility: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Built using lightweight Python 3, Vanilla JavaScript, Tailwind CSS &amp; Chart.js.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Zero-dependency backend eliminates external database or heavy licensing costs.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Operational Feasibility: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Simple workflow: Location ➔ Fetch ➔ Score ➔ Persona Dashboard.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Automated algorithms reduce cognitive load and processing delay.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100% offline-first local caching ensures continuous access in low-connectivity areas.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Deployment &amp; Scalability: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Cloud-compatible micro-gateway deployable on basic VMs, edge servers, or PWA containers.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Scalable to handle concurrent citizen requests with sub-100ms response times.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Field Applicability: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Designed for instant access across smartphones, tablets, and desktop browsers without native installation.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Universal accessibility with Hindi/English voice briefings for rural and elderly citizens.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097280"/>
            <a:ext cx="18288" cy="50292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100584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E40AF"/>
                </a:solidFill>
              </a:defRPr>
            </a:pPr>
            <a:r>
              <a:t>Challenges, Risks &amp; Mitigation: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API Rate Limits &amp; Latency Spikes: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External meteorological and AQI services may face latency spikes.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Mitigation: 5-minute memory caching and proxy deduplication prevent redundant queries.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Microclimate &amp; Local Terrain Accuracy: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Diverse terrain across India may show localized weather variations.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Mitigation: Pinpoint GPS reverse-geocoding coupled with 36 States/UTs sub-district resolution.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Rural Network Connectivity Drops: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Rural farmers or travelers may lose mobile internet access in remote locations.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Mitigation: Progressive Web App (PWA) offline cache stores recent forecasts for instant recall.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User Persona Overlap &amp; Routine Shifts: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A citizen may fit multiple personas simultaneously (e.g. parent and commuter).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Mitigation: Smart Auto-Blend automatically orchestrates widgets by time of day + manual 1-tap tab switching.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3FBD6B-6721-B289-418D-4219470FF0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0080" y="55021"/>
            <a:ext cx="1798320" cy="8479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64592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4671" y="384048"/>
            <a:ext cx="99097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rPr lang="en-IN" sz="1100" dirty="0">
                <a:solidFill>
                  <a:srgbClr val="0F172A"/>
                </a:solidFill>
              </a:rPr>
              <a:t>Mind Crafters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286000" y="320040"/>
            <a:ext cx="7619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IMPACT AND BENEFITS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FFFFFF"/>
                </a:solidFill>
              </a:defRPr>
            </a:pPr>
            <a:r>
              <a:t>@SIH Idea submission</a:t>
            </a:r>
          </a:p>
          <a:p>
            <a:pPr algn="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943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Consistent &amp; Personalized Intelligence: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   Impact: Transforms raw numbers into lifestyle-specific actionable advice.</a:t>
            </a:r>
          </a:p>
          <a:p>
            <a:pPr>
              <a:spcAft>
                <a:spcPts val="400"/>
              </a:spcAft>
              <a:defRPr sz="950" b="1">
                <a:solidFill>
                  <a:srgbClr val="1E40AF"/>
                </a:solidFill>
              </a:defRPr>
            </a:pPr>
            <a:r>
              <a:t>   Benefit: Reduces cognitive burden and empowers proactive citizen decision-making.</a:t>
            </a:r>
          </a:p>
          <a:p>
            <a:pPr>
              <a:defRPr sz="1250" b="1">
                <a:solidFill>
                  <a:srgbClr val="0F172A"/>
                </a:solidFill>
              </a:defRPr>
            </a:pPr>
            <a:r>
              <a:t>Public Health Protection: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   Impact: Correlates humidity with PM2.5/PM10 and monitors UV sunburn timers.</a:t>
            </a:r>
          </a:p>
          <a:p>
            <a:pPr>
              <a:spcAft>
                <a:spcPts val="400"/>
              </a:spcAft>
              <a:defRPr sz="950" b="1">
                <a:solidFill>
                  <a:srgbClr val="1E40AF"/>
                </a:solidFill>
              </a:defRPr>
            </a:pPr>
            <a:r>
              <a:t>   Benefit: Minimizes asthma attacks, respiratory distress, and heat exhaustion.</a:t>
            </a:r>
          </a:p>
          <a:p>
            <a:pPr>
              <a:defRPr sz="1250" b="1">
                <a:solidFill>
                  <a:srgbClr val="0F172A"/>
                </a:solidFill>
              </a:defRPr>
            </a:pPr>
            <a:r>
              <a:t>Agricultural Optimization: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   Impact: Provides topsoil (0-7cm) moisture % and foliar spraying suitability windows.</a:t>
            </a:r>
          </a:p>
          <a:p>
            <a:pPr>
              <a:spcAft>
                <a:spcPts val="400"/>
              </a:spcAft>
              <a:defRPr sz="950" b="1">
                <a:solidFill>
                  <a:srgbClr val="1E40AF"/>
                </a:solidFill>
              </a:defRPr>
            </a:pPr>
            <a:r>
              <a:t>   Benefit: Prevents pesticide runoff and optimizes crop irrigation schedules.</a:t>
            </a:r>
          </a:p>
          <a:p>
            <a:pPr>
              <a:defRPr sz="1250" b="1">
                <a:solidFill>
                  <a:srgbClr val="0F172A"/>
                </a:solidFill>
              </a:defRPr>
            </a:pPr>
            <a:r>
              <a:t>Travel &amp; Commute Safety: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   Impact: Analyzes airport fog delay risks, road visibility distance, and waterlogging.</a:t>
            </a:r>
          </a:p>
          <a:p>
            <a:pPr>
              <a:spcAft>
                <a:spcPts val="400"/>
              </a:spcAft>
              <a:defRPr sz="950" b="1">
                <a:solidFill>
                  <a:srgbClr val="1E40AF"/>
                </a:solidFill>
              </a:defRPr>
            </a:pPr>
            <a:r>
              <a:t>   Benefit: Prevents traffic accidents, flight missed connections, and packing errors.</a:t>
            </a:r>
          </a:p>
          <a:p>
            <a:pPr>
              <a:defRPr sz="1250" b="1">
                <a:solidFill>
                  <a:srgbClr val="0F172A"/>
                </a:solidFill>
              </a:defRPr>
            </a:pPr>
            <a:r>
              <a:t>Digital &amp; Audio Inclusion: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   Impact: Delivers natural voice weather bulletins in English and हिन्दी (Hindi).</a:t>
            </a:r>
          </a:p>
          <a:p>
            <a:pPr>
              <a:spcAft>
                <a:spcPts val="400"/>
              </a:spcAft>
              <a:defRPr sz="950" b="1">
                <a:solidFill>
                  <a:srgbClr val="1E40AF"/>
                </a:solidFill>
              </a:defRPr>
            </a:pPr>
            <a:r>
              <a:t>   Benefit: Bridges the digital literacy divide for rural farmers and elderly citizens.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0058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E40AF"/>
                </a:solidFill>
              </a:defRPr>
            </a:pPr>
            <a:r>
              <a:t>ACTIONABLE METEOROLOGY.</a:t>
            </a:r>
            <a:br/>
            <a:r>
              <a:t>A SAFER TOMORROW.</a:t>
            </a:r>
          </a:p>
          <a:p>
            <a:pPr algn="ctr">
              <a:defRPr sz="1000" b="1">
                <a:solidFill>
                  <a:srgbClr val="475569"/>
                </a:solidFill>
              </a:defRPr>
            </a:pPr>
            <a:r>
              <a:t>Better Health  |  Higher Farm Yield  |  Safe Commute</a:t>
            </a:r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0" y="2011680"/>
            <a:ext cx="237744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56832" y="2084832"/>
            <a:ext cx="22311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6534"/>
                </a:solidFill>
              </a:defRPr>
            </a:pPr>
            <a:r>
              <a:t>Better Health Protection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Ensures sensitive asthma patients &amp; elderly receive timely warnings.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2011680"/>
            <a:ext cx="237744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08592" y="2084832"/>
            <a:ext cx="22311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E22CE"/>
                </a:solidFill>
              </a:defRPr>
            </a:pPr>
            <a:r>
              <a:t>Higher Agricultural Value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Prevents fertilizer runoff &amp; improves crop harvest quality.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3474720"/>
            <a:ext cx="237744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56832" y="3547872"/>
            <a:ext cx="22311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40AF"/>
                </a:solidFill>
              </a:defRPr>
            </a:pPr>
            <a:r>
              <a:t>Reduced Transit Delays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Minimizes commute accidents during heavy fog &amp; rain storms.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3474720"/>
            <a:ext cx="237744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08592" y="3547872"/>
            <a:ext cx="22311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Environmental Well-being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Less chemical wastage &amp; more sustainable agricultural practices.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4892040"/>
            <a:ext cx="2560320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82712" y="4965192"/>
            <a:ext cx="2414016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Stronger Citizen Inclusion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Accessible multilingual voice bulletins increase public reach.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107DA5A-32B2-D1EC-EBF9-A5AE5EA36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0080" y="55021"/>
            <a:ext cx="1798320" cy="8479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64592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4671" y="384048"/>
            <a:ext cx="99097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rPr lang="en-IN" sz="1100" dirty="0">
                <a:solidFill>
                  <a:srgbClr val="0F172A"/>
                </a:solidFill>
              </a:rPr>
              <a:t>Mind Crafters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286000" y="320040"/>
            <a:ext cx="7619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RESEARCH AND 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FFFFFF"/>
                </a:solidFill>
              </a:defRPr>
            </a:pPr>
            <a:r>
              <a:t>@SIH Idea submission</a:t>
            </a:r>
          </a:p>
          <a:p>
            <a:pPr algn="r">
              <a:defRPr sz="1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</a:defRPr>
            </a:pPr>
            <a:r>
              <a:rPr dirty="0"/>
              <a:t>DATA RESEARCH:</a:t>
            </a:r>
          </a:p>
          <a:p>
            <a:pPr>
              <a:spcAft>
                <a:spcPts val="600"/>
              </a:spcAft>
              <a:defRPr sz="1300">
                <a:solidFill>
                  <a:srgbClr val="1E40AF"/>
                </a:solidFill>
              </a:defRPr>
            </a:pPr>
            <a:r>
              <a:rPr dirty="0"/>
              <a:t>•  https://open-meteo.com/ (Synoptic Meteorological &amp; Soil Moisture API)</a:t>
            </a:r>
          </a:p>
          <a:p>
            <a:pPr>
              <a:spcAft>
                <a:spcPts val="600"/>
              </a:spcAft>
              <a:defRPr sz="1300">
                <a:solidFill>
                  <a:srgbClr val="1E40AF"/>
                </a:solidFill>
              </a:defRPr>
            </a:pPr>
            <a:r>
              <a:rPr dirty="0"/>
              <a:t>•  https://cpcb.nic.in/ (Central Pollution Control Board - National AQI Data Pipeline)</a:t>
            </a:r>
          </a:p>
          <a:p>
            <a:pPr>
              <a:spcAft>
                <a:spcPts val="600"/>
              </a:spcAft>
              <a:defRPr sz="1300">
                <a:solidFill>
                  <a:srgbClr val="1E40AF"/>
                </a:solidFill>
              </a:defRPr>
            </a:pPr>
            <a:r>
              <a:rPr dirty="0"/>
              <a:t>•  https://incois.gov.in/ (Indian National Centre for Ocean Information Services - Coastal Tides &amp; Swell)</a:t>
            </a:r>
          </a:p>
          <a:p>
            <a:pPr>
              <a:spcAft>
                <a:spcPts val="600"/>
              </a:spcAft>
              <a:defRPr sz="1300">
                <a:solidFill>
                  <a:srgbClr val="1E40AF"/>
                </a:solidFill>
              </a:defRPr>
            </a:pPr>
            <a:r>
              <a:rPr dirty="0"/>
              <a:t>•  https://mausam.imd.gov.in/ (India Meteorological Department - </a:t>
            </a:r>
            <a:r>
              <a:rPr dirty="0" err="1"/>
              <a:t>Agromet</a:t>
            </a:r>
            <a:r>
              <a:rPr dirty="0"/>
              <a:t> GKMS Bulletins)</a:t>
            </a:r>
          </a:p>
          <a:p>
            <a:br>
              <a:rPr dirty="0"/>
            </a:br>
            <a:r>
              <a:rPr dirty="0"/>
              <a:t>TECHNICAL RESEARCH:</a:t>
            </a:r>
          </a:p>
          <a:p>
            <a:pPr>
              <a:spcAft>
                <a:spcPts val="600"/>
              </a:spcAft>
              <a:defRPr sz="1300">
                <a:solidFill>
                  <a:srgbClr val="1E40AF"/>
                </a:solidFill>
              </a:defRPr>
            </a:pPr>
            <a:r>
              <a:rPr dirty="0"/>
              <a:t>•  https://developer.mozilla.org/en-US/docs/Web/API/Web_Speech_API (W3C Web Speech API)</a:t>
            </a:r>
          </a:p>
          <a:p>
            <a:pPr>
              <a:spcAft>
                <a:spcPts val="600"/>
              </a:spcAft>
              <a:defRPr sz="1300">
                <a:solidFill>
                  <a:srgbClr val="1E40AF"/>
                </a:solidFill>
              </a:defRPr>
            </a:pPr>
            <a:r>
              <a:rPr dirty="0"/>
              <a:t>•  https://www.chartjs.org/ (Chart.js Hardware-Accelerated Data Visualization)</a:t>
            </a:r>
          </a:p>
          <a:p>
            <a:pPr>
              <a:spcAft>
                <a:spcPts val="600"/>
              </a:spcAft>
              <a:defRPr sz="1300">
                <a:solidFill>
                  <a:srgbClr val="1E40AF"/>
                </a:solidFill>
              </a:defRPr>
            </a:pPr>
            <a:r>
              <a:rPr dirty="0"/>
              <a:t>•  https://tailwindcss.com/ (Tailwind CSS Framework)</a:t>
            </a:r>
          </a:p>
          <a:p>
            <a:pPr>
              <a:spcAft>
                <a:spcPts val="600"/>
              </a:spcAft>
              <a:defRPr sz="1300">
                <a:solidFill>
                  <a:srgbClr val="1E40AF"/>
                </a:solidFill>
              </a:defRPr>
            </a:pPr>
            <a:r>
              <a:rPr dirty="0"/>
              <a:t>•  https://docs.python.org/3/library/http.server.html (Python 3 HTTP Server)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8E0B1EF-F91B-3E13-6598-AB201907D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0240" y="55021"/>
            <a:ext cx="1798320" cy="8479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1368</Words>
  <Application>Microsoft Office PowerPoint</Application>
  <PresentationFormat>Widescreen</PresentationFormat>
  <Paragraphs>155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Mariya Amruth</cp:lastModifiedBy>
  <cp:revision>5</cp:revision>
  <dcterms:created xsi:type="dcterms:W3CDTF">2013-01-27T09:14:16Z</dcterms:created>
  <dcterms:modified xsi:type="dcterms:W3CDTF">2026-09-10T11:07:21Z</dcterms:modified>
  <cp:category/>
</cp:coreProperties>
</file>