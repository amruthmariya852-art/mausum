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SMART INDIA HACKATHON 2026</a:t>
            </a:r>
          </a:p>
          <a:p>
            <a:pPr algn="ctr">
              <a:defRPr sz="2200" b="1">
                <a:solidFill>
                  <a:srgbClr val="0F172A"/>
                </a:solidFill>
              </a:defRPr>
            </a:pPr>
            <a:r>
              <a:t>TITLE PAGE</a:t>
            </a:r>
          </a:p>
        </p:txBody>
      </p:sp>
      <p:pic>
        <p:nvPicPr>
          <p:cNvPr id="4" name="Picture 3" descr="sih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737360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3774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</a:defRPr>
            </a:pPr>
            <a:r>
              <a:t>• Problem Statement ID – </a:t>
            </a:r>
            <a:r>
              <a:rPr b="1">
                <a:solidFill>
                  <a:srgbClr val="0F172A"/>
                </a:solidFill>
              </a:rPr>
              <a:t>26076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</a:defRPr>
            </a:pPr>
            <a:r>
              <a:t>• Problem Statement Title- </a:t>
            </a:r>
            <a:r>
              <a:rPr b="0">
                <a:solidFill>
                  <a:srgbClr val="0F172A"/>
                </a:solidFill>
              </a:rPr>
              <a:t>Development of personalized homepage for 'Mausam' mobile application.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</a:defRPr>
            </a:pPr>
            <a:r>
              <a:t>• Theme- </a:t>
            </a:r>
            <a:r>
              <a:rPr b="1">
                <a:solidFill>
                  <a:srgbClr val="0F172A"/>
                </a:solidFill>
              </a:rPr>
              <a:t>Smart Automation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</a:defRPr>
            </a:pPr>
            <a:r>
              <a:t>• PS Category- </a:t>
            </a:r>
            <a:r>
              <a:rPr b="1">
                <a:solidFill>
                  <a:srgbClr val="0F172A"/>
                </a:solidFill>
              </a:rPr>
              <a:t>Software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</a:defRPr>
            </a:pPr>
            <a:r>
              <a:t>• Team ID- </a:t>
            </a:r>
            <a:r>
              <a:rPr b="0">
                <a:solidFill>
                  <a:srgbClr val="0F172A"/>
                </a:solidFill>
              </a:rPr>
              <a:t>[Your Team ID]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</a:defRPr>
            </a:pPr>
            <a:r>
              <a:t>• Team Name (Registered on portal) : </a:t>
            </a:r>
            <a:r>
              <a:rPr b="0">
                <a:solidFill>
                  <a:srgbClr val="0F172A"/>
                </a:solidFill>
              </a:rPr>
              <a:t>Mausam 2.0</a:t>
            </a:r>
          </a:p>
        </p:txBody>
      </p:sp>
      <p:pic>
        <p:nvPicPr>
          <p:cNvPr id="6" name="Picture 5" descr="title_large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103120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6459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Mausam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7619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MAUSAM 2.0</a:t>
            </a:r>
          </a:p>
        </p:txBody>
      </p:sp>
      <p:pic>
        <p:nvPicPr>
          <p:cNvPr id="6" name="Picture 5" descr="sih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28600"/>
            <a:ext cx="1645920" cy="6583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@SIH Idea submission</a:t>
            </a:r>
          </a:p>
          <a:p>
            <a:pPr algn="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6217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E40AF"/>
                </a:solidFill>
              </a:defRPr>
            </a:pPr>
            <a:r>
              <a:t>Detailed Explanation of Proposed Solution: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An adaptive, multi-persona mobile web platform for personalized weather intelligence and proactive lifestyle recommendations.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Users access tailored meteorological insights through the Mausam 2.0 PWA interface.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Smart automated intelligence and scoring models compute and classify: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 Health &amp; AQI (Asthma Triggers, UV Sunburn)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 Outdoor Fitness (Best Running Hours, Heat Stress)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 Beach &amp; Surfing (Tide Harmonics, Swell Height)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 Travel &amp; Commute (AI Packing, Road Visibility)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 Agriculture (Topsoil Moisture %, Spray Windows)</a:t>
            </a:r>
          </a:p>
          <a:p>
            <a:br/>
            <a:pPr algn="ctr">
              <a:defRPr sz="1200" b="1">
                <a:solidFill>
                  <a:srgbClr val="1E40AF"/>
                </a:solidFill>
              </a:defRPr>
            </a:pPr>
            <a:r>
              <a:t>"Transforming static raw weather data into an adaptive, personalized, and actionable daily intelligence experience."</a:t>
            </a:r>
            <a:br/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Data is aggregated via a lightweight Python 3 backend gateway and rendered with hardware-accelerated charts and bilingual voice synthesis.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Generates real-time persona cards, dynamic workout scores, and automated travel packing checklists.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005840"/>
            <a:ext cx="4846320" cy="2560320"/>
          </a:xfrm>
          <a:prstGeom prst="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05156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</a:defRPr>
            </a:pPr>
            <a:r>
              <a:t>How It Addresses the Problem?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Reduces cognitive overload from raw meteorological indices.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Delivers lifestyle-specific insights for 8 distinct citizen personas.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Automatically identifies health hazards (asthma, heatstroke, UV risks).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Provides proactive commute, school transit, and travel packing alerts.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Enables farmers to make weather-informed spraying and irrigation decisions.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Maintains seamless offline access with local caching during network drops.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3703320"/>
            <a:ext cx="4846320" cy="2651760"/>
          </a:xfrm>
          <a:prstGeom prst="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749039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</a:defRPr>
            </a:pPr>
            <a:r>
              <a:t>Innovation &amp; Uniqueness of the Solution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Smart Auto-Blend lifecycle engine dynamically shifts homepage across the day.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Heuristic mathematical models for running scores, tidal curves, and soil balance.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AI Smart Packing matrix evaluates destination weather deltas and UV.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Pan-India 1-click directory explorer covering all 28 States &amp; 8 UTs.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Multilingual Web Speech Text-to-Speech voice bulletins in English and Hindi.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Zero external database dependency ensures low latency and ultra-fast loading.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6459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Mausam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7619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pic>
        <p:nvPicPr>
          <p:cNvPr id="6" name="Picture 5" descr="sih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28600"/>
            <a:ext cx="1645920" cy="6583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@SIH Idea submission</a:t>
            </a:r>
          </a:p>
          <a:p>
            <a:pPr algn="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40AF"/>
                </a:solidFill>
              </a:defRPr>
            </a:pPr>
            <a:r>
              <a:t>Tech Stacks Used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Meteorological Feeds &amp; Heuristic Scoring: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Open-Meteo &amp; IMD Synoptic Data APIs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CPCB National Air Quality Index (PM2.5, PM10, NO2, O3)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INCOIS Marine Swell &amp; Agromet Soil Moisture (0-7cm)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Mobile &amp; Web Application: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HTML5, CSS3, Modern Tailwind CSS Framework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Glassmorphism UI with 1-Click Mobile Shell Simulator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Progressive Web App (PWA) Offline-First Architecture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Backend Gateway &amp; Caching: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Python 3 Standard Library (http.server, urllib, json)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5-Minute High-Speed In-Memory Cache Layer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Browser LocalStorage Persistent State Cache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Visualization &amp; Voice Synthesis: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Chart.js Hardware-Accelerated Data Canvases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W3C Web Speech API (Multilingual TTS in English &amp; हिन्दी)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914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</a:defRPr>
            </a:pPr>
            <a:r>
              <a:t>App Workflow</a:t>
            </a:r>
          </a:p>
        </p:txBody>
      </p:sp>
      <p:pic>
        <p:nvPicPr>
          <p:cNvPr id="11" name="Picture 10" descr="mausam_app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394960" cy="70494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6459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Mausam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7619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pic>
        <p:nvPicPr>
          <p:cNvPr id="6" name="Picture 5" descr="sih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28600"/>
            <a:ext cx="1645920" cy="6583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@SIH Idea submission</a:t>
            </a:r>
          </a:p>
          <a:p>
            <a:pPr algn="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40AF"/>
                </a:solidFill>
              </a:defRPr>
            </a:pPr>
            <a:r>
              <a:t>Feasibility of Idea: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Technical Feasibility: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Built using lightweight Python 3, Vanilla JavaScript, Tailwind CSS &amp; Chart.js.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Zero-dependency backend eliminates external database or heavy licensing costs.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Operational Feasibility: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Simple workflow: Location ➔ Fetch ➔ Score ➔ Persona Dashboard.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Automated algorithms reduce cognitive load and processing delay.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100% offline-first local caching ensures continuous access in low-connectivity areas.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Deployment &amp; Scalability: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Cloud-compatible micro-gateway deployable on basic VMs, edge servers, or PWA containers.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Scalable to handle concurrent citizen requests with sub-100ms response times.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Field Applicability: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Designed for instant access across smartphones, tablets, and desktop browsers without native installation.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Universal accessibility with Hindi/English voice briefings for rural and elderly citizens.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97280"/>
            <a:ext cx="18288" cy="5029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0584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40AF"/>
                </a:solidFill>
              </a:defRPr>
            </a:pPr>
            <a:r>
              <a:t>Challenges, Risks &amp; Mitigation: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API Rate Limits &amp; Latency Spikes: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External meteorological and AQI services may face latency spikes.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Mitigation: 5-minute memory caching and proxy deduplication prevent redundant queries.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Microclimate &amp; Local Terrain Accuracy: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Diverse terrain across India may show localized weather variations.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Mitigation: Pinpoint GPS reverse-geocoding coupled with 36 States/UTs sub-district resolution.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Rural Network Connectivity Drops: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Rural farmers or travelers may lose mobile internet access in remote locations.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Mitigation: Progressive Web App (PWA) offline cache stores recent forecasts for instant recall.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User Persona Overlap &amp; Routine Shifts: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A citizen may fit multiple personas simultaneously (e.g. parent and commuter).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Mitigation: Smart Auto-Blend automatically orchestrates widgets by time of day + manual 1-tap tab switching.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6459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Mausam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7619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pic>
        <p:nvPicPr>
          <p:cNvPr id="6" name="Picture 5" descr="sih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28600"/>
            <a:ext cx="1645920" cy="6583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@SIH Idea submission</a:t>
            </a:r>
          </a:p>
          <a:p>
            <a:pPr algn="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Consistent &amp; Personalized Intelligence: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   Impact: </a:t>
            </a:r>
            <a:r>
              <a:t>Transforms raw numbers into lifestyle-specific actionable advice.</a:t>
            </a:r>
          </a:p>
          <a:p>
            <a:pPr>
              <a:spcAft>
                <a:spcPts val="400"/>
              </a:spcAft>
              <a:defRPr b="1" sz="950">
                <a:solidFill>
                  <a:srgbClr val="1E40AF"/>
                </a:solidFill>
              </a:defRPr>
            </a:pPr>
            <a:r>
              <a:t>   Benefit: </a:t>
            </a:r>
            <a:r>
              <a:t>Reduces cognitive burden and empowers proactive citizen decision-making.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Public Health Protection: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   Impact: </a:t>
            </a:r>
            <a:r>
              <a:t>Correlates humidity with PM2.5/PM10 and monitors UV sunburn timers.</a:t>
            </a:r>
          </a:p>
          <a:p>
            <a:pPr>
              <a:spcAft>
                <a:spcPts val="400"/>
              </a:spcAft>
              <a:defRPr b="1" sz="950">
                <a:solidFill>
                  <a:srgbClr val="1E40AF"/>
                </a:solidFill>
              </a:defRPr>
            </a:pPr>
            <a:r>
              <a:t>   Benefit: </a:t>
            </a:r>
            <a:r>
              <a:t>Minimizes asthma attacks, respiratory distress, and heat exhaustion.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Agricultural Optimization: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   Impact: </a:t>
            </a:r>
            <a:r>
              <a:t>Provides topsoil (0-7cm) moisture % and foliar spraying suitability windows.</a:t>
            </a:r>
          </a:p>
          <a:p>
            <a:pPr>
              <a:spcAft>
                <a:spcPts val="400"/>
              </a:spcAft>
              <a:defRPr b="1" sz="950">
                <a:solidFill>
                  <a:srgbClr val="1E40AF"/>
                </a:solidFill>
              </a:defRPr>
            </a:pPr>
            <a:r>
              <a:t>   Benefit: </a:t>
            </a:r>
            <a:r>
              <a:t>Prevents pesticide runoff and optimizes crop irrigation schedules.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Travel &amp; Commute Safety: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   Impact: </a:t>
            </a:r>
            <a:r>
              <a:t>Analyzes airport fog delay risks, road visibility distance, and waterlogging.</a:t>
            </a:r>
          </a:p>
          <a:p>
            <a:pPr>
              <a:spcAft>
                <a:spcPts val="400"/>
              </a:spcAft>
              <a:defRPr b="1" sz="950">
                <a:solidFill>
                  <a:srgbClr val="1E40AF"/>
                </a:solidFill>
              </a:defRPr>
            </a:pPr>
            <a:r>
              <a:t>   Benefit: </a:t>
            </a:r>
            <a:r>
              <a:t>Prevents traffic accidents, flight missed connections, and packing errors.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Digital &amp; Audio Inclusion: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   Impact: </a:t>
            </a:r>
            <a:r>
              <a:t>Delivers natural voice weather bulletins in English and हिन्दी (Hindi).</a:t>
            </a:r>
          </a:p>
          <a:p>
            <a:pPr>
              <a:spcAft>
                <a:spcPts val="400"/>
              </a:spcAft>
              <a:defRPr b="1" sz="950">
                <a:solidFill>
                  <a:srgbClr val="1E40AF"/>
                </a:solidFill>
              </a:defRPr>
            </a:pPr>
            <a:r>
              <a:t>   Benefit: </a:t>
            </a:r>
            <a:r>
              <a:t>Bridges the digital literacy divide for rural farmers and elderly citizens.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00584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40AF"/>
                </a:solidFill>
              </a:defRPr>
            </a:pPr>
            <a:r>
              <a:t>ACTIONABLE METEOROLOGY.</a:t>
            </a:r>
            <a:br/>
            <a:r>
              <a:t>A SAFER TOMORROW.</a:t>
            </a:r>
          </a:p>
          <a:p>
            <a:pPr algn="ctr">
              <a:defRPr sz="1000" b="1">
                <a:solidFill>
                  <a:srgbClr val="475569"/>
                </a:solidFill>
              </a:defRPr>
            </a:pPr>
            <a:r>
              <a:t>Better Health  |  Higher Farm Yield  |  Safe Commute</a:t>
            </a:r>
            <a:br/>
          </a:p>
        </p:txBody>
      </p:sp>
      <p:sp>
        <p:nvSpPr>
          <p:cNvPr id="11" name="Rounded Rectangle 10"/>
          <p:cNvSpPr/>
          <p:nvPr/>
        </p:nvSpPr>
        <p:spPr>
          <a:xfrm>
            <a:off x="6583680" y="2011680"/>
            <a:ext cx="237744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2084832"/>
            <a:ext cx="223113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6534"/>
                </a:solidFill>
              </a:defRPr>
            </a:pPr>
            <a:r>
              <a:t>Better Health Protection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Ensures sensitive asthma patients &amp; elderly receive timely warnings.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011680"/>
            <a:ext cx="237744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8592" y="2084832"/>
            <a:ext cx="223113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E22CE"/>
                </a:solidFill>
              </a:defRPr>
            </a:pPr>
            <a:r>
              <a:t>Higher Agricultural Value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Prevents fertilizer runoff &amp; improves crop harvest quality.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474720"/>
            <a:ext cx="237744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3547872"/>
            <a:ext cx="223113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40AF"/>
                </a:solidFill>
              </a:defRPr>
            </a:pPr>
            <a:r>
              <a:t>Reduced Transit Delays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Minimizes commute accidents during heavy fog &amp; rain storms.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3474720"/>
            <a:ext cx="237744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8592" y="3547872"/>
            <a:ext cx="223113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Environmental Well-being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Less chemical wastage &amp; more sustainable agricultural practices.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4892040"/>
            <a:ext cx="256032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82712" y="4965192"/>
            <a:ext cx="241401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Stronger Citizen Inclusion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Accessible multilingual voice bulletins increase public reach.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6459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Mausam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7619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pic>
        <p:nvPicPr>
          <p:cNvPr id="6" name="Picture 5" descr="sih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28600"/>
            <a:ext cx="1645920" cy="6583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@SIH Idea submission</a:t>
            </a:r>
          </a:p>
          <a:p>
            <a:pPr algn="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72A"/>
                </a:solidFill>
              </a:defRPr>
            </a:pPr>
            <a:r>
              <a:t>DATA RESEARCH:</a:t>
            </a:r>
          </a:p>
          <a:p>
            <a:pPr>
              <a:spcAft>
                <a:spcPts val="600"/>
              </a:spcAft>
              <a:defRPr sz="1300">
                <a:solidFill>
                  <a:srgbClr val="1E40AF"/>
                </a:solidFill>
              </a:defRPr>
            </a:pPr>
            <a:r>
              <a:t>•  https://open-meteo.com/ (Synoptic Meteorological &amp; Soil Moisture API)</a:t>
            </a:r>
          </a:p>
          <a:p>
            <a:pPr>
              <a:spcAft>
                <a:spcPts val="600"/>
              </a:spcAft>
              <a:defRPr sz="1300">
                <a:solidFill>
                  <a:srgbClr val="1E40AF"/>
                </a:solidFill>
              </a:defRPr>
            </a:pPr>
            <a:r>
              <a:t>•  https://cpcb.nic.in/ (Central Pollution Control Board - National AQI Data Pipeline)</a:t>
            </a:r>
          </a:p>
          <a:p>
            <a:pPr>
              <a:spcAft>
                <a:spcPts val="600"/>
              </a:spcAft>
              <a:defRPr sz="1300">
                <a:solidFill>
                  <a:srgbClr val="1E40AF"/>
                </a:solidFill>
              </a:defRPr>
            </a:pPr>
            <a:r>
              <a:t>•  https://incois.gov.in/ (Indian National Centre for Ocean Information Services - Coastal Tides &amp; Swell)</a:t>
            </a:r>
          </a:p>
          <a:p>
            <a:pPr>
              <a:spcAft>
                <a:spcPts val="600"/>
              </a:spcAft>
              <a:defRPr sz="1300">
                <a:solidFill>
                  <a:srgbClr val="1E40AF"/>
                </a:solidFill>
              </a:defRPr>
            </a:pPr>
            <a:r>
              <a:t>•  https://mausam.imd.gov.in/ (India Meteorological Department - Agromet GKMS Bulletins)</a:t>
            </a:r>
          </a:p>
          <a:p>
            <a:br/>
            <a:pPr>
              <a:spcAft>
                <a:spcPts val="800"/>
              </a:spcAft>
              <a:defRPr sz="1800" b="1">
                <a:solidFill>
                  <a:srgbClr val="0F172A"/>
                </a:solidFill>
              </a:defRPr>
            </a:pPr>
            <a:r>
              <a:t>TECHNICAL RESEARCH:</a:t>
            </a:r>
          </a:p>
          <a:p>
            <a:pPr>
              <a:spcAft>
                <a:spcPts val="600"/>
              </a:spcAft>
              <a:defRPr sz="1300">
                <a:solidFill>
                  <a:srgbClr val="1E40AF"/>
                </a:solidFill>
              </a:defRPr>
            </a:pPr>
            <a:r>
              <a:t>•  https://developer.mozilla.org/en-US/docs/Web/API/Web_Speech_API (W3C Web Speech API)</a:t>
            </a:r>
          </a:p>
          <a:p>
            <a:pPr>
              <a:spcAft>
                <a:spcPts val="600"/>
              </a:spcAft>
              <a:defRPr sz="1300">
                <a:solidFill>
                  <a:srgbClr val="1E40AF"/>
                </a:solidFill>
              </a:defRPr>
            </a:pPr>
            <a:r>
              <a:t>•  https://www.chartjs.org/ (Chart.js Hardware-Accelerated Data Visualization)</a:t>
            </a:r>
          </a:p>
          <a:p>
            <a:pPr>
              <a:spcAft>
                <a:spcPts val="600"/>
              </a:spcAft>
              <a:defRPr sz="1300">
                <a:solidFill>
                  <a:srgbClr val="1E40AF"/>
                </a:solidFill>
              </a:defRPr>
            </a:pPr>
            <a:r>
              <a:t>•  https://tailwindcss.com/ (Tailwind CSS Framework)</a:t>
            </a:r>
          </a:p>
          <a:p>
            <a:pPr>
              <a:spcAft>
                <a:spcPts val="600"/>
              </a:spcAft>
              <a:defRPr sz="1300">
                <a:solidFill>
                  <a:srgbClr val="1E40AF"/>
                </a:solidFill>
              </a:defRPr>
            </a:pPr>
            <a:r>
              <a:t>•  https://docs.python.org/3/library/http.server.html (Python 3 HTTP Server)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