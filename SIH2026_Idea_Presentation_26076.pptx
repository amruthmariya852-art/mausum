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Smart India Hackathon 2026 | Problem Statement ID: 26076 | Ministry of Earth Sciences (MoES) - IMD</a:t>
            </a:r>
          </a:p>
          <a:p>
            <a:pPr algn="r">
              <a:defRPr sz="950" b="1">
                <a:solidFill>
                  <a:srgbClr val="38BDF8"/>
                </a:solidFill>
              </a:defRPr>
            </a:pPr>
            <a:r>
              <a:t>Slide 1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SMART INDIA HACKATHON 2026 — IDEA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MAUSAM 2.0: Next-Gen Personalized Weather System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Adaptive, Multi-Persona Homepage &amp; Proactive Meteorological Intelligence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212080" cy="1508760"/>
          </a:xfrm>
          <a:prstGeom prst="roundRect">
            <a:avLst/>
          </a:prstGeom>
          <a:solidFill>
            <a:srgbClr val="192A46"/>
          </a:solidFill>
          <a:ln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PROBLEM STATEMENT ID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26076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212080" cy="1508760"/>
          </a:xfrm>
          <a:prstGeom prst="roundRect">
            <a:avLst/>
          </a:prstGeom>
          <a:solidFill>
            <a:srgbClr val="192A46"/>
          </a:solidFill>
          <a:ln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85292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PROBLEM STATEMENT TITLE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t>Development of personalized homepage for 'Mausam' mobile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5212080" cy="1737360"/>
          </a:xfrm>
          <a:prstGeom prst="roundRect">
            <a:avLst/>
          </a:prstGeom>
          <a:solidFill>
            <a:srgbClr val="192A46"/>
          </a:solidFill>
          <a:ln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44568"/>
            <a:ext cx="493776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THEME &amp; PS CATEGORY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t>Theme: Smart Automation</a:t>
            </a:r>
            <a:br/>
            <a:r>
              <a:t>Category: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34840"/>
            <a:ext cx="5212080" cy="1737360"/>
          </a:xfrm>
          <a:prstGeom prst="roundRect">
            <a:avLst/>
          </a:prstGeom>
          <a:solidFill>
            <a:srgbClr val="192A46"/>
          </a:solidFill>
          <a:ln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544568"/>
            <a:ext cx="493776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DE80"/>
                </a:solidFill>
              </a:defRPr>
            </a:pPr>
            <a:r>
              <a:t>MINISTRY / DEPARTMENT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t>Ministry of Earth Sciences (MoES)</a:t>
            </a:r>
            <a:br/>
            <a:r>
              <a:t>India Meteorological Department (IMD)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Team ID: [Your Team ID]  |  Team Name: [Your Registered Team Name]  |  Team Leader: [Leader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Smart India Hackathon 2026 | Problem Statement ID: 26076 | Ministry of Earth Sciences (MoES) - IMD</a:t>
            </a:r>
          </a:p>
          <a:p>
            <a:pPr algn="r">
              <a:defRPr sz="950" b="1">
                <a:solidFill>
                  <a:srgbClr val="38BDF8"/>
                </a:solidFill>
              </a:defRPr>
            </a:pPr>
            <a:r>
              <a:t>Slide 2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Problem Statement &amp; Background Analysis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Identifying user bottlenecks in generic meteorological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❌ Current Bottlenecks in 'Mausam' App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Generic, Static Viewpoint: </a:t>
            </a:r>
            <a:r>
              <a:rPr b="0">
                <a:solidFill>
                  <a:srgbClr val="94A3B8"/>
                </a:solidFill>
              </a:rPr>
              <a:t>A farmer, outdoor athlete, asthma patient, and coastal fisherman see the exact same generic temperature and humidity card.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High Cognitive Load: </a:t>
            </a:r>
            <a:r>
              <a:rPr b="0">
                <a:solidFill>
                  <a:srgbClr val="94A3B8"/>
                </a:solidFill>
              </a:rPr>
              <a:t>Users are presented with raw meteorological indices (e.g. 68% RH, 1008 hPa, 38 dBZ radar) without actionable, contextual recommendations.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No Lifestyle Intelligence: </a:t>
            </a:r>
            <a:r>
              <a:rPr b="0">
                <a:solidFill>
                  <a:srgbClr val="94A3B8"/>
                </a:solidFill>
              </a:rPr>
              <a:t>No proactive guidance for school commute hours, flight fog delays, surfing swells, agricultural spraying, or heatstroke danger.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One-Way Information Flow: </a:t>
            </a:r>
            <a:r>
              <a:rPr b="0">
                <a:solidFill>
                  <a:srgbClr val="94A3B8"/>
                </a:solidFill>
              </a:rPr>
              <a:t>Lacks adaptive daily routines that update as a citizen transitions from morning jog to office transit and evening family leisure.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DE80"/>
                </a:solidFill>
              </a:defRPr>
            </a:pPr>
            <a:r>
              <a:t>🎯 Targeted MoES / IMD Objectives (PS 26076)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8 Dedicated Persona Homepages: </a:t>
            </a:r>
            <a:r>
              <a:rPr b="0">
                <a:solidFill>
                  <a:srgbClr val="94A3B8"/>
                </a:solidFill>
              </a:rPr>
              <a:t>Build tailored interfaces for Health, Fitness, Beachgoers, Travelers, Parents, Agriculture, Commuters, and Event Planners.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Smart Automation &amp; Heuristic Models: </a:t>
            </a:r>
            <a:r>
              <a:rPr b="0">
                <a:solidFill>
                  <a:srgbClr val="94A3B8"/>
                </a:solidFill>
              </a:rPr>
              <a:t>Automate complex calculations: WBGT heat stress, running index, tidal harmonic curves, topsoil moisture, and AI packing lists.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Pan-India &amp; Universal City Coverage: </a:t>
            </a:r>
            <a:r>
              <a:rPr b="0">
                <a:solidFill>
                  <a:srgbClr val="94A3B8"/>
                </a:solidFill>
              </a:rPr>
              <a:t>Provide district-level precision across all 28 States &amp; 8 UTs of India + GPS pinpoint reverse geocoding.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Universal Multilingual Accessibility: </a:t>
            </a:r>
            <a:r>
              <a:rPr b="0">
                <a:solidFill>
                  <a:srgbClr val="94A3B8"/>
                </a:solidFill>
              </a:rPr>
              <a:t>Integrate natural Text-to-Speech (TTS) voice bulletins in English and हिन्दी (Hindi) for rural and elderly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Smart India Hackathon 2026 | Problem Statement ID: 26076 | Ministry of Earth Sciences (MoES) - IMD</a:t>
            </a:r>
          </a:p>
          <a:p>
            <a:pPr algn="r">
              <a:defRPr sz="950" b="1">
                <a:solidFill>
                  <a:srgbClr val="38BDF8"/>
                </a:solidFill>
              </a:defRPr>
            </a:pPr>
            <a:r>
              <a:t>Slide 3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Proposed Solution: 8 Persona Intelligence Modules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Transforming atmospheric data into contextual, life-saving citizen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14600" cy="2331720"/>
          </a:xfrm>
          <a:prstGeom prst="roundRect">
            <a:avLst/>
          </a:prstGeom>
          <a:solidFill>
            <a:srgbClr val="192A46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3898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</a:defRPr>
            </a:pPr>
            <a:r>
              <a:t>🩺 Health-Conscious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CPCB National AQI (PM2.5, PM10, NO2), Pollen count, UV sunburn timer, and Asthma trigger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514600" cy="2331720"/>
          </a:xfrm>
          <a:prstGeom prst="roundRect">
            <a:avLst/>
          </a:prstGeom>
          <a:solidFill>
            <a:srgbClr val="192A4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3898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🏃 Outdoor Fitness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'Best Running Hours' (0-100 score), WBGT heat index, Golden Hour, and sweat hydration rate (ml/hr).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80160"/>
            <a:ext cx="2514600" cy="2331720"/>
          </a:xfrm>
          <a:prstGeom prst="roundRect">
            <a:avLst/>
          </a:prstGeom>
          <a:solidFill>
            <a:srgbClr val="192A4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3898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🏄 Beach &amp; Coastal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Coastal condition status, 24h Tide harmonic curve (peak high/low), Swell height (m), SST &amp; UV water reflection.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280160"/>
            <a:ext cx="2514600" cy="2331720"/>
          </a:xfrm>
          <a:prstGeom prst="roundRect">
            <a:avLst/>
          </a:prstGeom>
          <a:solidFill>
            <a:srgbClr val="192A4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3898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✈️ Smart Travel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Saved multi-city comparator, airport &amp; rail fog delay risks, climate contrast, and AI Packing Advisor.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2514600" cy="2331720"/>
          </a:xfrm>
          <a:prstGeom prst="roundRect">
            <a:avLst/>
          </a:prstGeom>
          <a:solidFill>
            <a:srgbClr val="192A46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044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72B6"/>
                </a:solidFill>
              </a:defRPr>
            </a:pPr>
            <a:r>
              <a:t>👨‍👩‍👧 Parents &amp; Family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School commute windows (7-9 AM drop &amp; 2-4 PM pickup), rain radar alerts, and kids playground comfort.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794760"/>
            <a:ext cx="2514600" cy="2331720"/>
          </a:xfrm>
          <a:prstGeom prst="roundRect">
            <a:avLst/>
          </a:prstGeom>
          <a:solidFill>
            <a:srgbClr val="192A4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9044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🌾 Agriculture (GKMS)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Topsoil (0-7cm) &amp; root zone moisture %, 7-day crop rain balance, spraying window, and GKMS bulletins.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794760"/>
            <a:ext cx="2514600" cy="2331720"/>
          </a:xfrm>
          <a:prstGeom prst="roundRect">
            <a:avLst/>
          </a:prstGeom>
          <a:solidFill>
            <a:srgbClr val="192A46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9044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923C"/>
                </a:solidFill>
              </a:defRPr>
            </a:pPr>
            <a:r>
              <a:t>🚗 Daily Commuter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Road visibility meter (meters), urban waterlogging risk, and rush-hour driving traction ratings.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3794760"/>
            <a:ext cx="2514600" cy="2331720"/>
          </a:xfrm>
          <a:prstGeom prst="roundRect">
            <a:avLst/>
          </a:prstGeom>
          <a:solidFill>
            <a:srgbClr val="192A46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39044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🎪 Event Planner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14-day rain probability, Outdoor Thermal Comfort Index, and temporary tent wind load gust thresholds.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Smart India Hackathon 2026 | Problem Statement ID: 26076 | Ministry of Earth Sciences (MoES) - IMD</a:t>
            </a:r>
          </a:p>
          <a:p>
            <a:pPr algn="r">
              <a:defRPr sz="950" b="1">
                <a:solidFill>
                  <a:srgbClr val="38BDF8"/>
                </a:solidFill>
              </a:defRPr>
            </a:pPr>
            <a:r>
              <a:t>Slide 4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Technical Architecture &amp; System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Modular, scalable, zero-dependency full-stack meteorological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Data Ingestion &amp; API Gateway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Multi-Stream Aggregator: </a:t>
            </a:r>
            <a:r>
              <a:rPr b="0">
                <a:solidFill>
                  <a:srgbClr val="94A3B8"/>
                </a:solidFill>
              </a:rPr>
              <a:t>Integrates synoptic forecasts, CPCB Air Quality (PM2.5, PM10, NO2, SO2, O3), INCOIS coastal marine swells, and agromet soil moisture.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Pan-India Geocoding: </a:t>
            </a:r>
            <a:r>
              <a:rPr b="0">
                <a:solidFill>
                  <a:srgbClr val="94A3B8"/>
                </a:solidFill>
              </a:rPr>
              <a:t>Directory covering all 28 States &amp; 8 UTs + OpenStreetMap reverse geocoding for GPS coordinate resolution.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Python 3 Async Gateway: </a:t>
            </a:r>
            <a:r>
              <a:rPr b="0">
                <a:solidFill>
                  <a:srgbClr val="94A3B8"/>
                </a:solidFill>
              </a:rPr>
              <a:t>Zero-dependency, high-throughput proxy server with 5-minute caching and CORS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2. Persona Intelligence Scoring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WBGT &amp; Thermal Models: </a:t>
            </a:r>
            <a:r>
              <a:rPr b="0">
                <a:solidFill>
                  <a:srgbClr val="94A3B8"/>
                </a:solidFill>
              </a:rPr>
              <a:t>Computes heat stress and dynamic sweat-rate hydration loss (ml/hr).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Tidal Harmonics Algorithm: </a:t>
            </a:r>
            <a:r>
              <a:rPr b="0">
                <a:solidFill>
                  <a:srgbClr val="94A3B8"/>
                </a:solidFill>
              </a:rPr>
              <a:t>Generates continuous 24h sinusoidal tidal curves (1.6 + 1.2 sin(ωt)).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AI Travel Packing Matrix: </a:t>
            </a:r>
            <a:r>
              <a:rPr b="0">
                <a:solidFill>
                  <a:srgbClr val="94A3B8"/>
                </a:solidFill>
              </a:rPr>
              <a:t>Evaluates destination temperature deltas, rainfall, and UV to generate gear checklists.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Smart Auto-Blend Engine: </a:t>
            </a:r>
            <a:r>
              <a:rPr b="0">
                <a:solidFill>
                  <a:srgbClr val="94A3B8"/>
                </a:solidFill>
              </a:rPr>
              <a:t>Dynamically updates homepage across the day (Fitness → Commute → Family → Leisure).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3. Client Experience &amp; Voice TTS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Universal PWA Client: </a:t>
            </a:r>
            <a:r>
              <a:rPr b="0">
                <a:solidFill>
                  <a:srgbClr val="94A3B8"/>
                </a:solidFill>
              </a:rPr>
              <a:t>Responsive Tailwind CSS, Glassmorphism theme, and 1-click Mobile Shell simulator.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Chart.js Visualizations: </a:t>
            </a:r>
            <a:r>
              <a:rPr b="0">
                <a:solidFill>
                  <a:srgbClr val="94A3B8"/>
                </a:solidFill>
              </a:rPr>
              <a:t>Dual-axis time series, AQI bar gauges, and crop water balance charts.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Doppler Radar Simulator: </a:t>
            </a:r>
            <a:r>
              <a:rPr b="0">
                <a:solidFill>
                  <a:srgbClr val="94A3B8"/>
                </a:solidFill>
              </a:rPr>
              <a:t>Hardware-accelerated CSS Doppler Weather Radar sweep with dBZ reflectivity.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• Multilingual Web Speech TTS: </a:t>
            </a:r>
            <a:r>
              <a:rPr b="0">
                <a:solidFill>
                  <a:srgbClr val="94A3B8"/>
                </a:solidFill>
              </a:rPr>
              <a:t>Voice synthesis in English and हिन्दी (Hindi).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Smart India Hackathon 2026 | Problem Statement ID: 26076 | Ministry of Earth Sciences (MoES) - IMD</a:t>
            </a:r>
          </a:p>
          <a:p>
            <a:pPr algn="r">
              <a:defRPr sz="950" b="1">
                <a:solidFill>
                  <a:srgbClr val="38BDF8"/>
                </a:solidFill>
              </a:defRPr>
            </a:pPr>
            <a:r>
              <a:t>Slide 5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Innovation, Feasibility &amp; Expected Impact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Delivering high-value public safety, agricultural efficiency, and citizen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t>💡 Key Innovations &amp; Novelty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Smart Auto-Blend Lifecycle: </a:t>
            </a:r>
            <a:r>
              <a:rPr b="0">
                <a:solidFill>
                  <a:srgbClr val="94A3B8"/>
                </a:solidFill>
              </a:rPr>
              <a:t>The homepage restructures itself automatically based on time of day (Morning Workout → Commute → School Transit → Evening Leisure).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AI Smart Packing Engine: </a:t>
            </a:r>
            <a:r>
              <a:rPr b="0">
                <a:solidFill>
                  <a:srgbClr val="94A3B8"/>
                </a:solidFill>
              </a:rPr>
              <a:t>Eliminates travel clothing uncertainty by checking destination weather deltas, rainfall, and UV indices.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State &amp; District Directory Explorer: </a:t>
            </a:r>
            <a:r>
              <a:rPr b="0">
                <a:solidFill>
                  <a:srgbClr val="94A3B8"/>
                </a:solidFill>
              </a:rPr>
              <a:t>1-click browsing across all 28 States &amp; 8 UTs without typing.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Bilingual Voice Bulletins: </a:t>
            </a:r>
            <a:r>
              <a:rPr b="0">
                <a:solidFill>
                  <a:srgbClr val="94A3B8"/>
                </a:solidFill>
              </a:rPr>
              <a:t>Bridges the digital divide for elderly and rural agricultural citizens.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4475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ADE80"/>
                </a:solidFill>
              </a:defRPr>
            </a:pPr>
            <a:r>
              <a:t>📈 Feasibility &amp; Societal Impact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Public Health &amp; Asthma Protection: </a:t>
            </a:r>
            <a:r>
              <a:rPr b="0">
                <a:solidFill>
                  <a:srgbClr val="94A3B8"/>
                </a:solidFill>
              </a:rPr>
              <a:t>Protects sensitive groups by correlating humidity with PM2.5 to predict bronchial triggers and heatstroke.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Agricultural Economic Savings: </a:t>
            </a:r>
            <a:r>
              <a:rPr b="0">
                <a:solidFill>
                  <a:srgbClr val="94A3B8"/>
                </a:solidFill>
              </a:rPr>
              <a:t>Prevents pesticide and fertilizer runoff by identifying rain-safe foliar spraying windows for farmers.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Zero Infrastructure Cost: </a:t>
            </a:r>
            <a:r>
              <a:rPr b="0">
                <a:solidFill>
                  <a:srgbClr val="94A3B8"/>
                </a:solidFill>
              </a:rPr>
              <a:t>Python 3 standard library backend runs on low-cost virtual servers or edge devices with sub-100ms response times.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100% Offline-First Caching: </a:t>
            </a:r>
            <a:r>
              <a:rPr b="0">
                <a:solidFill>
                  <a:srgbClr val="94A3B8"/>
                </a:solidFill>
              </a:rPr>
              <a:t>LocalStorage guarantees uninterrupted access even during remote connectivity drops.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Smart India Hackathon 2026 | Problem Statement ID: 26076 | Ministry of Earth Sciences (MoES) - IMD</a:t>
            </a:r>
          </a:p>
          <a:p>
            <a:pPr algn="r">
              <a:defRPr sz="950" b="1">
                <a:solidFill>
                  <a:srgbClr val="38BDF8"/>
                </a:solidFill>
              </a:defRPr>
            </a:pPr>
            <a:r>
              <a:t>Slide 6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Roadmap, Scalability &amp; Future Scope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Phased deployment strategy for Pan-India scaling across 1.4 billion citizens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Phase 1: National PWA Launch &amp; Pilot</a:t>
            </a:r>
          </a:p>
          <a:p>
            <a:pPr>
              <a:defRPr sz="950" b="1">
                <a:solidFill>
                  <a:srgbClr val="94A3B8"/>
                </a:solidFill>
              </a:defRPr>
            </a:pPr>
            <a:r>
              <a:t>Timeline: Immediate (0 - 3 Months)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Deploy Mausam 2.0 PWA across Android, iOS &amp; Web.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Integrate with IMD NOWCAST push notification gateway.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Expand Voice Assistant to 12 regional Indian languages (Tamil, Telugu, Bengali, Marathi, Punjabi, Gujarati, etc.).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Phase 2: Disaster &amp; Citizen Science Integration</a:t>
            </a:r>
          </a:p>
          <a:p>
            <a:pPr>
              <a:defRPr sz="950" b="1">
                <a:solidFill>
                  <a:srgbClr val="94A3B8"/>
                </a:solidFill>
              </a:defRPr>
            </a:pPr>
            <a:r>
              <a:t>Timeline: Medium Term (3 - 6 Months)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Connect with NDMA Common Alerting Protocol (CAP) for automated district-level flash flood and cyclone alerts.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Crowdsourced urban waterlogging and hail damage photo reporting (Citizen Meteorological Network).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Integration with IRCTC &amp; Flight booking portals for automated travel packing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192A46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Phase 3: Hyper-Local Edge AI &amp; Agri Sensors</a:t>
            </a:r>
          </a:p>
          <a:p>
            <a:pPr>
              <a:defRPr sz="950" b="1">
                <a:solidFill>
                  <a:srgbClr val="94A3B8"/>
                </a:solidFill>
              </a:defRPr>
            </a:pPr>
            <a:r>
              <a:t>Timeline: Long Term (6 - 12 Months)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On-device lightweight Edge ML for offline micro-climate forecasting at 1km grid resolution.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Deep integration with Gramin Krishi Mausam Sewa (GKMS) village automatic weather stations (AWS).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Smart Home IoT &amp; wearable integration (WearOS / Apple Watch morning briefings).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